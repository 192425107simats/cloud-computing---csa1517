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data analytics is optional, but a thoughtful data path is expected.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 should be specific and inspectable, not a generic list of tools.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3" name="Shape 3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ending should synthesize learning, not just say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4" name="CO1 AT3 | 0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01</a:t>
            </a:r>
          </a:p>
        </p:txBody>
      </p:sp>
      <p:sp>
        <p:nvSpPr>
          <p:cNvPr id="2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" name="CSA15 Cloud Computing and Big Data Analytics"/>
          <p:cNvSpPr txBox="1"/>
          <p:nvPr/>
        </p:nvSpPr>
        <p:spPr>
          <a:xfrm>
            <a:off x="769619" y="914400"/>
            <a:ext cx="6671312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600" b="1">
                <a:solidFill>
                  <a:srgbClr val="1F4E79"/>
                </a:solidFill>
              </a:defRPr>
            </a:lvl1pPr>
          </a:lstStyle>
          <a:p>
            <a:r>
              <a:t>CSA15 Cloud Computing and Big Data Analytics</a:t>
            </a:r>
          </a:p>
        </p:txBody>
      </p:sp>
      <p:sp>
        <p:nvSpPr>
          <p:cNvPr id="27" name="Capstone Cloud Technical Presentation"/>
          <p:cNvSpPr txBox="1"/>
          <p:nvPr/>
        </p:nvSpPr>
        <p:spPr>
          <a:xfrm>
            <a:off x="769619" y="2152650"/>
            <a:ext cx="667131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200" b="1">
                <a:solidFill>
                  <a:srgbClr val="2F6690"/>
                </a:solidFill>
              </a:defRPr>
            </a:lvl1pPr>
          </a:lstStyle>
          <a:p>
            <a:r>
              <a:t>Capstone Cloud Technical Presentation</a:t>
            </a:r>
          </a:p>
        </p:txBody>
      </p:sp>
      <p:sp>
        <p:nvSpPr>
          <p:cNvPr id="28" name="Individual Student Presentation Deck"/>
          <p:cNvSpPr txBox="1"/>
          <p:nvPr/>
        </p:nvSpPr>
        <p:spPr>
          <a:xfrm>
            <a:off x="769619" y="2762250"/>
            <a:ext cx="581406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4155"/>
                </a:solidFill>
              </a:defRPr>
            </a:lvl1pPr>
          </a:lstStyle>
          <a:p>
            <a:r>
              <a:t>Individual Student Presentation Deck</a:t>
            </a:r>
          </a:p>
        </p:txBody>
      </p:sp>
      <p:sp>
        <p:nvSpPr>
          <p:cNvPr id="29" name="Presenter Details-panel"/>
          <p:cNvSpPr/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resenter Details-bar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resenter Details"/>
          <p:cNvSpPr txBox="1"/>
          <p:nvPr/>
        </p:nvSpPr>
        <p:spPr>
          <a:xfrm>
            <a:off x="7741919" y="1333500"/>
            <a:ext cx="32804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Presenter Details</a:t>
            </a:r>
          </a:p>
        </p:txBody>
      </p:sp>
      <p:sp>
        <p:nvSpPr>
          <p:cNvPr id="32" name="Student Name:…"/>
          <p:cNvSpPr txBox="1"/>
          <p:nvPr/>
        </p:nvSpPr>
        <p:spPr>
          <a:xfrm>
            <a:off x="7741919" y="1733550"/>
            <a:ext cx="3509012" cy="2292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Student Name:</a:t>
            </a:r>
            <a:r>
              <a:rPr lang="en-US" dirty="0"/>
              <a:t> U. Vishnu Mohan Reddy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Register Number</a:t>
            </a:r>
            <a:r>
              <a:rPr b="1" dirty="0"/>
              <a:t>:</a:t>
            </a:r>
            <a:r>
              <a:rPr lang="en-US" dirty="0"/>
              <a:t>192425107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Class / Section / Slot:</a:t>
            </a:r>
            <a:r>
              <a:rPr lang="en-US" dirty="0"/>
              <a:t> c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Capstone Title:</a:t>
            </a:r>
            <a:r>
              <a:rPr lang="en-US" dirty="0"/>
              <a:t> </a:t>
            </a:r>
            <a:r>
              <a:rPr lang="en-US" sz="1300" dirty="0"/>
              <a:t>Virtualization: The Backbone of Cloud Computing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Selected SDG Goal(s):</a:t>
            </a:r>
            <a:r>
              <a:rPr lang="en-IN" sz="1300" b="1" dirty="0"/>
              <a:t> </a:t>
            </a:r>
            <a:r>
              <a:rPr lang="en-IN" sz="1300" dirty="0"/>
              <a:t>SDG 9: Industry, Innovation and Infrastructure</a:t>
            </a:r>
            <a:br>
              <a:rPr lang="en-IN" sz="1300" dirty="0"/>
            </a:br>
            <a:r>
              <a:rPr dirty="0"/>
              <a:t>Cloud Platform / Tools:</a:t>
            </a:r>
            <a:r>
              <a:rPr lang="en-IN" sz="1300" dirty="0"/>
              <a:t> VMware Workstation, Oracle VirtualBox, Microsoft Hyper-V, Docker, AWS EC2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endParaRPr dirty="0"/>
          </a:p>
        </p:txBody>
      </p:sp>
      <p:sp>
        <p:nvSpPr>
          <p:cNvPr id="33" name="Presentation Focus-panel"/>
          <p:cNvSpPr/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resentation Focus-bar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resentation Focus"/>
          <p:cNvSpPr txBox="1"/>
          <p:nvPr/>
        </p:nvSpPr>
        <p:spPr>
          <a:xfrm>
            <a:off x="941069" y="3905250"/>
            <a:ext cx="575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Focus</a:t>
            </a:r>
          </a:p>
        </p:txBody>
      </p:sp>
      <p:sp>
        <p:nvSpPr>
          <p:cNvPr id="36" name="Present your capstone as a cloud-backed product. Explain the problem, architecture, service choices, evidence, and CO1 learning clearly."/>
          <p:cNvSpPr txBox="1"/>
          <p:nvPr/>
        </p:nvSpPr>
        <p:spPr>
          <a:xfrm>
            <a:off x="941069" y="4305300"/>
            <a:ext cx="575691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72033"/>
                </a:solidFill>
              </a:defRPr>
            </a:lvl1pPr>
          </a:lstStyle>
          <a:p>
            <a:r>
              <a:t>Present your capstone as a cloud-backed product. Explain the problem, architecture, service choices, evidence, and CO1 learning clearly.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4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46" name="CO1 AT3 | 0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02</a:t>
            </a:r>
          </a:p>
        </p:txBody>
      </p:sp>
      <p:sp>
        <p:nvSpPr>
          <p:cNvPr id="47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Problem Context and Stakeholder Mapping</a:t>
            </a:r>
          </a:p>
        </p:txBody>
      </p:sp>
      <p:sp>
        <p:nvSpPr>
          <p:cNvPr id="48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capstone begins with a real problem to solve</a:t>
            </a:r>
          </a:p>
        </p:txBody>
      </p:sp>
      <p:sp>
        <p:nvSpPr>
          <p:cNvPr id="49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50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roblem Statement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53" name="What real-world problem does the product solve?"/>
          <p:cNvSpPr txBox="1"/>
          <p:nvPr/>
        </p:nvSpPr>
        <p:spPr>
          <a:xfrm>
            <a:off x="998219" y="2190750"/>
            <a:ext cx="4099562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Organizations need multiple servers for different applications, leading to high hardware costs, increased power consumption, and poor resource utilization.</a:t>
            </a:r>
            <a:endParaRPr dirty="0"/>
          </a:p>
        </p:txBody>
      </p:sp>
      <p:sp>
        <p:nvSpPr>
          <p:cNvPr id="54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Target User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Target Users</a:t>
            </a:r>
          </a:p>
        </p:txBody>
      </p:sp>
      <p:sp>
        <p:nvSpPr>
          <p:cNvPr id="57" name="Who will use the product and what changes for them?"/>
          <p:cNvSpPr txBox="1"/>
          <p:nvPr/>
        </p:nvSpPr>
        <p:spPr>
          <a:xfrm>
            <a:off x="64084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Cloud Service Providers, IT Companies, Data </a:t>
            </a:r>
            <a:r>
              <a:rPr lang="en-IN" dirty="0" err="1"/>
              <a:t>Centers</a:t>
            </a:r>
            <a:r>
              <a:rPr lang="en-IN" dirty="0"/>
              <a:t> ,  Universities, Software Developers</a:t>
            </a:r>
            <a:endParaRPr dirty="0"/>
          </a:p>
        </p:txBody>
      </p:sp>
      <p:sp>
        <p:nvSpPr>
          <p:cNvPr id="58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59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SDG Fi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SDG Fit</a:t>
            </a:r>
          </a:p>
        </p:txBody>
      </p:sp>
      <p:sp>
        <p:nvSpPr>
          <p:cNvPr id="61" name="Which SDG goal is connected to the capstone outcome?"/>
          <p:cNvSpPr txBox="1"/>
          <p:nvPr/>
        </p:nvSpPr>
        <p:spPr>
          <a:xfrm>
            <a:off x="9982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Supports </a:t>
            </a:r>
            <a:r>
              <a:rPr lang="en-US" b="1" dirty="0"/>
              <a:t>SDG 9</a:t>
            </a:r>
            <a:r>
              <a:rPr lang="en-US" dirty="0"/>
              <a:t> by improving computing infrastructure and enabling innovation.</a:t>
            </a:r>
            <a:endParaRPr dirty="0"/>
          </a:p>
        </p:txBody>
      </p:sp>
      <p:sp>
        <p:nvSpPr>
          <p:cNvPr id="62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roduct Boundary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Boundary</a:t>
            </a:r>
          </a:p>
        </p:txBody>
      </p:sp>
      <p:sp>
        <p:nvSpPr>
          <p:cNvPr id="65" name="What is included in the first usable version?"/>
          <p:cNvSpPr txBox="1"/>
          <p:nvPr/>
        </p:nvSpPr>
        <p:spPr>
          <a:xfrm>
            <a:off x="64084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Demonstrate virtualization, Explain VM creation, Resource sharing, Benefits over traditional servers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7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75" name="CO1 AT3 | 03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03</a:t>
            </a:r>
          </a:p>
        </p:txBody>
      </p:sp>
      <p:sp>
        <p:nvSpPr>
          <p:cNvPr id="76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Adoption Rationale and Concept Map</a:t>
            </a:r>
          </a:p>
        </p:txBody>
      </p:sp>
      <p:sp>
        <p:nvSpPr>
          <p:cNvPr id="77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problem needs cloud support to become a usable product</a:t>
            </a:r>
          </a:p>
        </p:txBody>
      </p:sp>
      <p:sp>
        <p:nvSpPr>
          <p:cNvPr id="78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79" name="Cloud Definition-panel"/>
          <p:cNvSpPr/>
          <p:nvPr/>
        </p:nvSpPr>
        <p:spPr>
          <a:xfrm>
            <a:off x="793349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Cloud Definition-bar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Cloud Definition"/>
          <p:cNvSpPr txBox="1"/>
          <p:nvPr/>
        </p:nvSpPr>
        <p:spPr>
          <a:xfrm>
            <a:off x="941069" y="17907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Definition</a:t>
            </a:r>
          </a:p>
        </p:txBody>
      </p:sp>
      <p:sp>
        <p:nvSpPr>
          <p:cNvPr id="82" name="Define cloud using your capstone context."/>
          <p:cNvSpPr txBox="1"/>
          <p:nvPr/>
        </p:nvSpPr>
        <p:spPr>
          <a:xfrm>
            <a:off x="941069" y="2190750"/>
            <a:ext cx="43281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Cloud computing delivers computing resources over the internet using virtualized infrastructure.</a:t>
            </a:r>
            <a:endParaRPr dirty="0"/>
          </a:p>
        </p:txBody>
      </p:sp>
      <p:sp>
        <p:nvSpPr>
          <p:cNvPr id="83" name="Cloud Characteristics-panel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Cloud Characteristics-bar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Cloud Characteristics"/>
          <p:cNvSpPr txBox="1"/>
          <p:nvPr/>
        </p:nvSpPr>
        <p:spPr>
          <a:xfrm>
            <a:off x="941069" y="34290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Characteristics</a:t>
            </a:r>
          </a:p>
        </p:txBody>
      </p:sp>
      <p:sp>
        <p:nvSpPr>
          <p:cNvPr id="86" name="Elasticity, scalability, measured service, resource pooling."/>
          <p:cNvSpPr txBox="1"/>
          <p:nvPr/>
        </p:nvSpPr>
        <p:spPr>
          <a:xfrm>
            <a:off x="941069" y="3829050"/>
            <a:ext cx="43281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Elasticity, Scalability, Resource Pooling, On-demand Service, Measured Service.</a:t>
            </a:r>
          </a:p>
        </p:txBody>
      </p:sp>
      <p:sp>
        <p:nvSpPr>
          <p:cNvPr id="87" name="Cloud Concept Map-placeholder"/>
          <p:cNvSpPr/>
          <p:nvPr/>
        </p:nvSpPr>
        <p:spPr>
          <a:xfrm>
            <a:off x="6134100" y="1600199"/>
            <a:ext cx="5915146" cy="4244117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" name="Cloud Concept Map"/>
          <p:cNvSpPr txBox="1"/>
          <p:nvPr/>
        </p:nvSpPr>
        <p:spPr>
          <a:xfrm>
            <a:off x="6351269" y="1771650"/>
            <a:ext cx="43281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Cloud Concept Map</a:t>
            </a:r>
          </a:p>
        </p:txBody>
      </p:sp>
      <p:sp>
        <p:nvSpPr>
          <p:cNvPr id="89" name="Place a clean concept map that links cloud ecosystem, API role, service models, elasticity, and your capstone modules."/>
          <p:cNvSpPr txBox="1"/>
          <p:nvPr/>
        </p:nvSpPr>
        <p:spPr>
          <a:xfrm>
            <a:off x="6351269" y="2190750"/>
            <a:ext cx="43281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8FE83-D7E0-2A66-C209-FDA8CED238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876" y="1638300"/>
            <a:ext cx="3854370" cy="4184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9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99" name="CO1 AT3 | 04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04</a:t>
            </a:r>
          </a:p>
        </p:txBody>
      </p:sp>
      <p:sp>
        <p:nvSpPr>
          <p:cNvPr id="10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Capstone Cloud Architecture</a:t>
            </a:r>
          </a:p>
        </p:txBody>
      </p:sp>
      <p:sp>
        <p:nvSpPr>
          <p:cNvPr id="10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cloud architecture connects the user action to services</a:t>
            </a:r>
          </a:p>
        </p:txBody>
      </p:sp>
      <p:sp>
        <p:nvSpPr>
          <p:cNvPr id="10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03" name="node-User App / Web App"/>
          <p:cNvSpPr/>
          <p:nvPr/>
        </p:nvSpPr>
        <p:spPr>
          <a:xfrm>
            <a:off x="104775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User App / Web App"/>
          <p:cNvSpPr txBox="1"/>
          <p:nvPr/>
        </p:nvSpPr>
        <p:spPr>
          <a:xfrm>
            <a:off x="1207769" y="233362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User</a:t>
            </a:r>
          </a:p>
        </p:txBody>
      </p:sp>
      <p:sp>
        <p:nvSpPr>
          <p:cNvPr id="105" name="node-Auth + API Gateway"/>
          <p:cNvSpPr/>
          <p:nvPr/>
        </p:nvSpPr>
        <p:spPr>
          <a:xfrm>
            <a:off x="347662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6" name="Auth + API Gateway"/>
          <p:cNvSpPr txBox="1"/>
          <p:nvPr/>
        </p:nvSpPr>
        <p:spPr>
          <a:xfrm>
            <a:off x="3716654" y="2195294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Web Browser</a:t>
            </a:r>
            <a:endParaRPr dirty="0"/>
          </a:p>
        </p:txBody>
      </p:sp>
      <p:sp>
        <p:nvSpPr>
          <p:cNvPr id="107" name="node-Backend Services"/>
          <p:cNvSpPr/>
          <p:nvPr/>
        </p:nvSpPr>
        <p:spPr>
          <a:xfrm>
            <a:off x="590550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8" name="Backend Services"/>
          <p:cNvSpPr txBox="1"/>
          <p:nvPr/>
        </p:nvSpPr>
        <p:spPr>
          <a:xfrm>
            <a:off x="6065519" y="233362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API Gateway</a:t>
            </a:r>
            <a:endParaRPr dirty="0"/>
          </a:p>
        </p:txBody>
      </p:sp>
      <p:sp>
        <p:nvSpPr>
          <p:cNvPr id="109" name="node-Database / Storage"/>
          <p:cNvSpPr/>
          <p:nvPr/>
        </p:nvSpPr>
        <p:spPr>
          <a:xfrm>
            <a:off x="8334375" y="20383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Database / Storage"/>
          <p:cNvSpPr txBox="1"/>
          <p:nvPr/>
        </p:nvSpPr>
        <p:spPr>
          <a:xfrm>
            <a:off x="8494394" y="233362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Virtual Machine</a:t>
            </a:r>
            <a:endParaRPr dirty="0"/>
          </a:p>
        </p:txBody>
      </p:sp>
      <p:sp>
        <p:nvSpPr>
          <p:cNvPr id="111" name="node-Analytics + Monitoring"/>
          <p:cNvSpPr/>
          <p:nvPr/>
        </p:nvSpPr>
        <p:spPr>
          <a:xfrm>
            <a:off x="8374381" y="3685514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2" name="Analytics + Monitoring"/>
          <p:cNvSpPr txBox="1"/>
          <p:nvPr/>
        </p:nvSpPr>
        <p:spPr>
          <a:xfrm>
            <a:off x="8494394" y="3890502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Hypervisor</a:t>
            </a:r>
            <a:endParaRPr dirty="0"/>
          </a:p>
        </p:txBody>
      </p:sp>
      <p:sp>
        <p:nvSpPr>
          <p:cNvPr id="113" name="connector-0"/>
          <p:cNvSpPr/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connector-1"/>
          <p:cNvSpPr/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connector-2"/>
          <p:cNvSpPr/>
          <p:nvPr/>
        </p:nvSpPr>
        <p:spPr>
          <a:xfrm>
            <a:off x="7755256" y="4056623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connector-3"/>
          <p:cNvSpPr/>
          <p:nvPr/>
        </p:nvSpPr>
        <p:spPr>
          <a:xfrm>
            <a:off x="9242149" y="2851295"/>
            <a:ext cx="19050" cy="8191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Scaling point"/>
          <p:cNvSpPr txBox="1"/>
          <p:nvPr/>
        </p:nvSpPr>
        <p:spPr>
          <a:xfrm>
            <a:off x="5951219" y="1733550"/>
            <a:ext cx="171831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334155"/>
                </a:solidFill>
              </a:defRPr>
            </a:lvl1pPr>
          </a:lstStyle>
          <a:p>
            <a:r>
              <a:t>Scaling point</a:t>
            </a:r>
          </a:p>
        </p:txBody>
      </p:sp>
      <p:sp>
        <p:nvSpPr>
          <p:cNvPr id="118" name="Security boundary"/>
          <p:cNvSpPr txBox="1"/>
          <p:nvPr/>
        </p:nvSpPr>
        <p:spPr>
          <a:xfrm>
            <a:off x="3522344" y="3067050"/>
            <a:ext cx="6576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r>
              <a:t>Security boundary</a:t>
            </a:r>
          </a:p>
        </p:txBody>
      </p:sp>
      <p:sp>
        <p:nvSpPr>
          <p:cNvPr id="121" name="Presentation Points-bar"/>
          <p:cNvSpPr/>
          <p:nvPr/>
        </p:nvSpPr>
        <p:spPr>
          <a:xfrm>
            <a:off x="8858250" y="1581150"/>
            <a:ext cx="238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resentation Points"/>
          <p:cNvSpPr txBox="1"/>
          <p:nvPr/>
        </p:nvSpPr>
        <p:spPr>
          <a:xfrm>
            <a:off x="9075419" y="1771650"/>
            <a:ext cx="194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Points</a:t>
            </a:r>
          </a:p>
        </p:txBody>
      </p:sp>
      <p:sp>
        <p:nvSpPr>
          <p:cNvPr id="3" name="connector-2">
            <a:extLst>
              <a:ext uri="{FF2B5EF4-FFF2-40B4-BE49-F238E27FC236}">
                <a16:creationId xmlns:a16="http://schemas.microsoft.com/office/drawing/2014/main" id="{75B35E49-AF00-819C-2A4F-9EAE7F529A9E}"/>
              </a:ext>
            </a:extLst>
          </p:cNvPr>
          <p:cNvSpPr/>
          <p:nvPr/>
        </p:nvSpPr>
        <p:spPr>
          <a:xfrm>
            <a:off x="7715250" y="2487693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" name="node-Analytics + Monitoring">
            <a:extLst>
              <a:ext uri="{FF2B5EF4-FFF2-40B4-BE49-F238E27FC236}">
                <a16:creationId xmlns:a16="http://schemas.microsoft.com/office/drawing/2014/main" id="{2134FD8C-37B7-C818-89AF-3F58A6F42281}"/>
              </a:ext>
            </a:extLst>
          </p:cNvPr>
          <p:cNvSpPr/>
          <p:nvPr/>
        </p:nvSpPr>
        <p:spPr>
          <a:xfrm>
            <a:off x="5974410" y="3681785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node-Analytics + Monitoring">
            <a:extLst>
              <a:ext uri="{FF2B5EF4-FFF2-40B4-BE49-F238E27FC236}">
                <a16:creationId xmlns:a16="http://schemas.microsoft.com/office/drawing/2014/main" id="{A5824EF1-DD9E-2EC0-EBD7-BAD0B92C3BC6}"/>
              </a:ext>
            </a:extLst>
          </p:cNvPr>
          <p:cNvSpPr/>
          <p:nvPr/>
        </p:nvSpPr>
        <p:spPr>
          <a:xfrm>
            <a:off x="3302979" y="3639797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7" name="connector-1">
            <a:extLst>
              <a:ext uri="{FF2B5EF4-FFF2-40B4-BE49-F238E27FC236}">
                <a16:creationId xmlns:a16="http://schemas.microsoft.com/office/drawing/2014/main" id="{3D8FD193-120F-11CF-6224-2C89FAF2B8DB}"/>
              </a:ext>
            </a:extLst>
          </p:cNvPr>
          <p:cNvSpPr/>
          <p:nvPr/>
        </p:nvSpPr>
        <p:spPr>
          <a:xfrm>
            <a:off x="5098775" y="4039479"/>
            <a:ext cx="875636" cy="45719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" name="Analytics + Monitoring">
            <a:extLst>
              <a:ext uri="{FF2B5EF4-FFF2-40B4-BE49-F238E27FC236}">
                <a16:creationId xmlns:a16="http://schemas.microsoft.com/office/drawing/2014/main" id="{60409AC9-B328-8385-4373-FE2A33AAD92B}"/>
              </a:ext>
            </a:extLst>
          </p:cNvPr>
          <p:cNvSpPr txBox="1"/>
          <p:nvPr/>
        </p:nvSpPr>
        <p:spPr>
          <a:xfrm>
            <a:off x="5998699" y="3853065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Physical Server</a:t>
            </a:r>
            <a:endParaRPr dirty="0"/>
          </a:p>
        </p:txBody>
      </p:sp>
      <p:sp>
        <p:nvSpPr>
          <p:cNvPr id="9" name="Analytics + Monitoring">
            <a:extLst>
              <a:ext uri="{FF2B5EF4-FFF2-40B4-BE49-F238E27FC236}">
                <a16:creationId xmlns:a16="http://schemas.microsoft.com/office/drawing/2014/main" id="{C7130CAA-34F2-C1D3-1750-589B761B1DD0}"/>
              </a:ext>
            </a:extLst>
          </p:cNvPr>
          <p:cNvSpPr txBox="1"/>
          <p:nvPr/>
        </p:nvSpPr>
        <p:spPr>
          <a:xfrm>
            <a:off x="3522344" y="3910429"/>
            <a:ext cx="14897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Storage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3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33" name="CO1 AT3 | 05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05</a:t>
            </a:r>
          </a:p>
        </p:txBody>
      </p:sp>
      <p:sp>
        <p:nvSpPr>
          <p:cNvPr id="134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Service Model Responsibility Matrix</a:t>
            </a:r>
          </a:p>
        </p:txBody>
      </p:sp>
      <p:sp>
        <p:nvSpPr>
          <p:cNvPr id="135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Each service model defines what we control and what cloud manages</a:t>
            </a:r>
          </a:p>
        </p:txBody>
      </p:sp>
      <p:sp>
        <p:nvSpPr>
          <p:cNvPr id="136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37" name="matrix-h-0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Service area"/>
          <p:cNvSpPr txBox="1"/>
          <p:nvPr/>
        </p:nvSpPr>
        <p:spPr>
          <a:xfrm>
            <a:off x="845819" y="1971675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Service area</a:t>
            </a:r>
          </a:p>
        </p:txBody>
      </p:sp>
      <p:sp>
        <p:nvSpPr>
          <p:cNvPr id="139" name="matrix-h-1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0" name="Model"/>
          <p:cNvSpPr txBox="1"/>
          <p:nvPr/>
        </p:nvSpPr>
        <p:spPr>
          <a:xfrm>
            <a:off x="2560319" y="1971675"/>
            <a:ext cx="899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Model</a:t>
            </a:r>
          </a:p>
        </p:txBody>
      </p:sp>
      <p:sp>
        <p:nvSpPr>
          <p:cNvPr id="141" name="matrix-h-2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Provider manages"/>
          <p:cNvSpPr txBox="1"/>
          <p:nvPr/>
        </p:nvSpPr>
        <p:spPr>
          <a:xfrm>
            <a:off x="3703319" y="1971675"/>
            <a:ext cx="2042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Provider manages</a:t>
            </a:r>
          </a:p>
        </p:txBody>
      </p:sp>
      <p:sp>
        <p:nvSpPr>
          <p:cNvPr id="143" name="matrix-h-3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Student team manages"/>
          <p:cNvSpPr txBox="1"/>
          <p:nvPr/>
        </p:nvSpPr>
        <p:spPr>
          <a:xfrm>
            <a:off x="5989319" y="1971675"/>
            <a:ext cx="213741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Student team manages</a:t>
            </a:r>
          </a:p>
        </p:txBody>
      </p:sp>
      <p:sp>
        <p:nvSpPr>
          <p:cNvPr id="145" name="matrix-h-4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6" name="Why this fits"/>
          <p:cNvSpPr txBox="1"/>
          <p:nvPr/>
        </p:nvSpPr>
        <p:spPr>
          <a:xfrm>
            <a:off x="8370569" y="1971675"/>
            <a:ext cx="2232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Why this fits</a:t>
            </a:r>
          </a:p>
        </p:txBody>
      </p:sp>
      <p:sp>
        <p:nvSpPr>
          <p:cNvPr id="147" name="matrix-0-0"/>
          <p:cNvSpPr/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8" name="Frontend hosting"/>
          <p:cNvSpPr txBox="1"/>
          <p:nvPr/>
        </p:nvSpPr>
        <p:spPr>
          <a:xfrm>
            <a:off x="845819" y="24574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Frontend hosting</a:t>
            </a:r>
          </a:p>
        </p:txBody>
      </p:sp>
      <p:sp>
        <p:nvSpPr>
          <p:cNvPr id="149" name="matrix-0-1"/>
          <p:cNvSpPr/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0" name="matrix-0-2"/>
          <p:cNvSpPr/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1" name="matrix-0-3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2" name="matrix-0-4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3" name="matrix-1-0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Backend/API"/>
          <p:cNvSpPr txBox="1"/>
          <p:nvPr/>
        </p:nvSpPr>
        <p:spPr>
          <a:xfrm>
            <a:off x="845819" y="29527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Backend/API</a:t>
            </a:r>
          </a:p>
        </p:txBody>
      </p:sp>
      <p:sp>
        <p:nvSpPr>
          <p:cNvPr id="155" name="matrix-1-1"/>
          <p:cNvSpPr/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IaaS</a:t>
            </a:r>
            <a:endParaRPr dirty="0"/>
          </a:p>
        </p:txBody>
      </p:sp>
      <p:sp>
        <p:nvSpPr>
          <p:cNvPr id="156" name="matrix-1-2"/>
          <p:cNvSpPr/>
          <p:nvPr/>
        </p:nvSpPr>
        <p:spPr>
          <a:xfrm>
            <a:off x="3329608" y="2800350"/>
            <a:ext cx="2766391" cy="447586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       Hypervisor software</a:t>
            </a:r>
            <a:endParaRPr dirty="0"/>
          </a:p>
        </p:txBody>
      </p:sp>
      <p:sp>
        <p:nvSpPr>
          <p:cNvPr id="157" name="matrix-1-3"/>
          <p:cNvSpPr/>
          <p:nvPr/>
        </p:nvSpPr>
        <p:spPr>
          <a:xfrm>
            <a:off x="5852160" y="28003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               Create</a:t>
            </a:r>
            <a:endParaRPr dirty="0"/>
          </a:p>
        </p:txBody>
      </p:sp>
      <p:sp>
        <p:nvSpPr>
          <p:cNvPr id="158" name="matrix-1-4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US" sz="1600" dirty="0"/>
              <a:t>Enables multiple VMs on one physical server</a:t>
            </a:r>
            <a:endParaRPr sz="1600" dirty="0"/>
          </a:p>
        </p:txBody>
      </p:sp>
      <p:sp>
        <p:nvSpPr>
          <p:cNvPr id="159" name="matrix-2-0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Database"/>
          <p:cNvSpPr txBox="1"/>
          <p:nvPr/>
        </p:nvSpPr>
        <p:spPr>
          <a:xfrm>
            <a:off x="845819" y="34480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Database</a:t>
            </a:r>
          </a:p>
        </p:txBody>
      </p:sp>
      <p:sp>
        <p:nvSpPr>
          <p:cNvPr id="161" name="matrix-2-1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PaaS </a:t>
            </a:r>
            <a:endParaRPr dirty="0"/>
          </a:p>
        </p:txBody>
      </p:sp>
      <p:sp>
        <p:nvSpPr>
          <p:cNvPr id="162" name="matrix-2-2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Runtime environment</a:t>
            </a:r>
            <a:endParaRPr dirty="0"/>
          </a:p>
        </p:txBody>
      </p:sp>
      <p:sp>
        <p:nvSpPr>
          <p:cNvPr id="163" name="matrix-2-3"/>
          <p:cNvSpPr/>
          <p:nvPr/>
        </p:nvSpPr>
        <p:spPr>
          <a:xfrm>
            <a:off x="5847080" y="32956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US" sz="1700" dirty="0"/>
              <a:t>Application code and business logic</a:t>
            </a:r>
            <a:endParaRPr sz="1700" dirty="0"/>
          </a:p>
        </p:txBody>
      </p:sp>
      <p:sp>
        <p:nvSpPr>
          <p:cNvPr id="164" name="matrix-2-4"/>
          <p:cNvSpPr/>
          <p:nvPr/>
        </p:nvSpPr>
        <p:spPr>
          <a:xfrm>
            <a:off x="8248649" y="3295650"/>
            <a:ext cx="2823541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US" sz="1600" dirty="0"/>
              <a:t>Simplifies deployment without managing infrastructure</a:t>
            </a:r>
            <a:endParaRPr sz="1600" dirty="0"/>
          </a:p>
        </p:txBody>
      </p:sp>
      <p:sp>
        <p:nvSpPr>
          <p:cNvPr id="165" name="matrix-3-0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6" name="Storage"/>
          <p:cNvSpPr txBox="1"/>
          <p:nvPr/>
        </p:nvSpPr>
        <p:spPr>
          <a:xfrm>
            <a:off x="845819" y="39433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Storage</a:t>
            </a:r>
          </a:p>
        </p:txBody>
      </p:sp>
      <p:sp>
        <p:nvSpPr>
          <p:cNvPr id="167" name="matrix-3-1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StaaS</a:t>
            </a:r>
            <a:endParaRPr dirty="0"/>
          </a:p>
        </p:txBody>
      </p:sp>
      <p:sp>
        <p:nvSpPr>
          <p:cNvPr id="168" name="matrix-3-2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     Cloud storage</a:t>
            </a:r>
            <a:endParaRPr dirty="0"/>
          </a:p>
        </p:txBody>
      </p:sp>
      <p:sp>
        <p:nvSpPr>
          <p:cNvPr id="169" name="matrix-3-3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   Organize VM files</a:t>
            </a:r>
            <a:endParaRPr dirty="0"/>
          </a:p>
        </p:txBody>
      </p:sp>
      <p:sp>
        <p:nvSpPr>
          <p:cNvPr id="170" name="matrix-3-4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US" sz="1600" dirty="0"/>
              <a:t>Reliable and scalable storage for virtual machines</a:t>
            </a:r>
            <a:endParaRPr sz="1600" dirty="0"/>
          </a:p>
        </p:txBody>
      </p:sp>
      <p:sp>
        <p:nvSpPr>
          <p:cNvPr id="172" name="Monitoring / logs"/>
          <p:cNvSpPr txBox="1"/>
          <p:nvPr/>
        </p:nvSpPr>
        <p:spPr>
          <a:xfrm>
            <a:off x="845819" y="4438650"/>
            <a:ext cx="14706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endParaRPr dirty="0"/>
          </a:p>
        </p:txBody>
      </p:sp>
      <p:sp>
        <p:nvSpPr>
          <p:cNvPr id="177" name="matrix-5-0"/>
          <p:cNvSpPr/>
          <p:nvPr/>
        </p:nvSpPr>
        <p:spPr>
          <a:xfrm>
            <a:off x="723900" y="427228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Security / IAM"/>
          <p:cNvSpPr txBox="1"/>
          <p:nvPr/>
        </p:nvSpPr>
        <p:spPr>
          <a:xfrm>
            <a:off x="922019" y="445636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rPr dirty="0"/>
              <a:t>Security / IAM</a:t>
            </a:r>
          </a:p>
        </p:txBody>
      </p:sp>
      <p:sp>
        <p:nvSpPr>
          <p:cNvPr id="179" name="matrix-5-1"/>
          <p:cNvSpPr/>
          <p:nvPr/>
        </p:nvSpPr>
        <p:spPr>
          <a:xfrm>
            <a:off x="2440940" y="4257586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IAM</a:t>
            </a:r>
            <a:endParaRPr dirty="0"/>
          </a:p>
        </p:txBody>
      </p:sp>
      <p:sp>
        <p:nvSpPr>
          <p:cNvPr id="180" name="matrix-5-2"/>
          <p:cNvSpPr/>
          <p:nvPr/>
        </p:nvSpPr>
        <p:spPr>
          <a:xfrm>
            <a:off x="3581400" y="4264933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Authentication service</a:t>
            </a:r>
            <a:endParaRPr dirty="0"/>
          </a:p>
        </p:txBody>
      </p:sp>
      <p:sp>
        <p:nvSpPr>
          <p:cNvPr id="181" name="matrix-5-3"/>
          <p:cNvSpPr/>
          <p:nvPr/>
        </p:nvSpPr>
        <p:spPr>
          <a:xfrm>
            <a:off x="5867400" y="4294778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       Define user roles</a:t>
            </a:r>
            <a:endParaRPr dirty="0"/>
          </a:p>
        </p:txBody>
      </p:sp>
      <p:sp>
        <p:nvSpPr>
          <p:cNvPr id="182" name="matrix-5-4"/>
          <p:cNvSpPr/>
          <p:nvPr/>
        </p:nvSpPr>
        <p:spPr>
          <a:xfrm>
            <a:off x="8248650" y="4285223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US" sz="1600" dirty="0"/>
              <a:t>Ensures secure access to cloud resources</a:t>
            </a:r>
            <a:endParaRPr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227FC-72C0-1895-C8C2-EF43388340C5}"/>
              </a:ext>
            </a:extLst>
          </p:cNvPr>
          <p:cNvSpPr txBox="1"/>
          <p:nvPr/>
        </p:nvSpPr>
        <p:spPr>
          <a:xfrm>
            <a:off x="2560318" y="2411969"/>
            <a:ext cx="924736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IaaS                    Physical servers        operating system              </a:t>
            </a:r>
            <a:r>
              <a:rPr lang="en-IN" sz="1600" dirty="0"/>
              <a:t>provides full control over VM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9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90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92" name="CO1 AT3 | 06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06</a:t>
            </a:r>
          </a:p>
        </p:txBody>
      </p:sp>
      <p:sp>
        <p:nvSpPr>
          <p:cNvPr id="193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Data Flow and Analytics Pipeline</a:t>
            </a:r>
          </a:p>
        </p:txBody>
      </p:sp>
      <p:sp>
        <p:nvSpPr>
          <p:cNvPr id="194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product data moves from user activity to useful insight</a:t>
            </a:r>
          </a:p>
        </p:txBody>
      </p:sp>
      <p:sp>
        <p:nvSpPr>
          <p:cNvPr id="19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96" name="flow-0"/>
          <p:cNvSpPr/>
          <p:nvPr/>
        </p:nvSpPr>
        <p:spPr>
          <a:xfrm>
            <a:off x="10668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ollect"/>
          <p:cNvSpPr txBox="1"/>
          <p:nvPr/>
        </p:nvSpPr>
        <p:spPr>
          <a:xfrm>
            <a:off x="1242057" y="1813461"/>
            <a:ext cx="9944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User Request</a:t>
            </a:r>
            <a:endParaRPr dirty="0"/>
          </a:p>
        </p:txBody>
      </p:sp>
      <p:sp>
        <p:nvSpPr>
          <p:cNvPr id="198" name="flow-line-0"/>
          <p:cNvSpPr/>
          <p:nvPr/>
        </p:nvSpPr>
        <p:spPr>
          <a:xfrm>
            <a:off x="2460763" y="1992631"/>
            <a:ext cx="481220" cy="45719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9" name="flow-1"/>
          <p:cNvSpPr/>
          <p:nvPr/>
        </p:nvSpPr>
        <p:spPr>
          <a:xfrm>
            <a:off x="2865119" y="1695450"/>
            <a:ext cx="1611631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0" name="Ingest"/>
          <p:cNvSpPr txBox="1"/>
          <p:nvPr/>
        </p:nvSpPr>
        <p:spPr>
          <a:xfrm>
            <a:off x="3227069" y="1822838"/>
            <a:ext cx="9944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Virtual Machine </a:t>
            </a:r>
            <a:endParaRPr dirty="0"/>
          </a:p>
        </p:txBody>
      </p:sp>
      <p:sp>
        <p:nvSpPr>
          <p:cNvPr id="201" name="flow-line-1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flow-2"/>
          <p:cNvSpPr/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3" name="Store"/>
          <p:cNvSpPr txBox="1"/>
          <p:nvPr/>
        </p:nvSpPr>
        <p:spPr>
          <a:xfrm>
            <a:off x="5208269" y="1905000"/>
            <a:ext cx="9944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Hypervisor</a:t>
            </a:r>
            <a:endParaRPr dirty="0"/>
          </a:p>
        </p:txBody>
      </p:sp>
      <p:sp>
        <p:nvSpPr>
          <p:cNvPr id="204" name="flow-line-2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5" name="flow-3"/>
          <p:cNvSpPr/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6" name="Process"/>
          <p:cNvSpPr txBox="1"/>
          <p:nvPr/>
        </p:nvSpPr>
        <p:spPr>
          <a:xfrm>
            <a:off x="7010400" y="1634665"/>
            <a:ext cx="1249681" cy="692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Python Monitoring Script</a:t>
            </a:r>
            <a:endParaRPr dirty="0"/>
          </a:p>
        </p:txBody>
      </p:sp>
      <p:sp>
        <p:nvSpPr>
          <p:cNvPr id="207" name="flow-line-3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flow-4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9" name="Visualize"/>
          <p:cNvSpPr txBox="1"/>
          <p:nvPr/>
        </p:nvSpPr>
        <p:spPr>
          <a:xfrm>
            <a:off x="9170669" y="1773078"/>
            <a:ext cx="9944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Performance Dashboard</a:t>
            </a:r>
            <a:endParaRPr dirty="0"/>
          </a:p>
        </p:txBody>
      </p:sp>
      <p:sp>
        <p:nvSpPr>
          <p:cNvPr id="210" name="Data Requirements-panel"/>
          <p:cNvSpPr/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1" name="Data Requirements-bar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2" name="Data Requirements"/>
          <p:cNvSpPr txBox="1"/>
          <p:nvPr/>
        </p:nvSpPr>
        <p:spPr>
          <a:xfrm>
            <a:off x="9410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Data Requirements</a:t>
            </a:r>
          </a:p>
        </p:txBody>
      </p:sp>
      <p:sp>
        <p:nvSpPr>
          <p:cNvPr id="213" name="User data, events, logs, files, sensor data, or transactions."/>
          <p:cNvSpPr txBox="1"/>
          <p:nvPr/>
        </p:nvSpPr>
        <p:spPr>
          <a:xfrm>
            <a:off x="805070" y="3729594"/>
            <a:ext cx="306208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User login information, Virtual Machine status, CPU utilization, RAM usage, Disk storage usage, Network traffic, System logs.</a:t>
            </a:r>
          </a:p>
        </p:txBody>
      </p:sp>
      <p:sp>
        <p:nvSpPr>
          <p:cNvPr id="214" name="Analytics Requirement-panel"/>
          <p:cNvSpPr/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5" name="Analytics Requirement-bar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6" name="Analytics Requirement"/>
          <p:cNvSpPr txBox="1"/>
          <p:nvPr/>
        </p:nvSpPr>
        <p:spPr>
          <a:xfrm>
            <a:off x="457961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Analytics Requirement</a:t>
            </a:r>
          </a:p>
        </p:txBody>
      </p:sp>
      <p:sp>
        <p:nvSpPr>
          <p:cNvPr id="217" name="Dashboard, alert, prediction, report, trend, or decision support."/>
          <p:cNvSpPr txBox="1"/>
          <p:nvPr/>
        </p:nvSpPr>
        <p:spPr>
          <a:xfrm>
            <a:off x="4579619" y="3829050"/>
            <a:ext cx="2708912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Monitor CPU and memory usage, Alert administrators when resource usage exceeds thresholds</a:t>
            </a:r>
          </a:p>
        </p:txBody>
      </p:sp>
      <p:sp>
        <p:nvSpPr>
          <p:cNvPr id="218" name="Proof Required-panel"/>
          <p:cNvSpPr/>
          <p:nvPr/>
        </p:nvSpPr>
        <p:spPr>
          <a:xfrm>
            <a:off x="80010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9" name="Proof Required-bar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0" name="Proof Required"/>
          <p:cNvSpPr txBox="1"/>
          <p:nvPr/>
        </p:nvSpPr>
        <p:spPr>
          <a:xfrm>
            <a:off x="82181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Proof Required</a:t>
            </a:r>
          </a:p>
        </p:txBody>
      </p:sp>
      <p:sp>
        <p:nvSpPr>
          <p:cNvPr id="221" name="Sample input, sample output, and one insight generated."/>
          <p:cNvSpPr txBox="1"/>
          <p:nvPr/>
        </p:nvSpPr>
        <p:spPr>
          <a:xfrm>
            <a:off x="8218169" y="3829050"/>
            <a:ext cx="27089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dirty="0"/>
              <a:t>Sample input, sample output, and one insight generated.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9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31" name="CO1 AT3 | 07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07</a:t>
            </a:r>
          </a:p>
        </p:txBody>
      </p:sp>
      <p:sp>
        <p:nvSpPr>
          <p:cNvPr id="232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Python / AI Module Integration</a:t>
            </a:r>
          </a:p>
        </p:txBody>
      </p:sp>
      <p:sp>
        <p:nvSpPr>
          <p:cNvPr id="233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Python or AI adds intelligence where the product needs it</a:t>
            </a:r>
          </a:p>
        </p:txBody>
      </p:sp>
      <p:sp>
        <p:nvSpPr>
          <p:cNvPr id="234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35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36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Python Rol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Python Role</a:t>
            </a:r>
          </a:p>
        </p:txBody>
      </p:sp>
      <p:sp>
        <p:nvSpPr>
          <p:cNvPr id="238" name="Prediction, automation, analytics, OCR, NLP, or reporting.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Virtual Machine Performance Monitoring</a:t>
            </a:r>
            <a:endParaRPr dirty="0"/>
          </a:p>
        </p:txBody>
      </p:sp>
      <p:sp>
        <p:nvSpPr>
          <p:cNvPr id="239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Input and Output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Input and Output</a:t>
            </a:r>
          </a:p>
        </p:txBody>
      </p:sp>
      <p:sp>
        <p:nvSpPr>
          <p:cNvPr id="242" name="What data enters the module and what result comes out?"/>
          <p:cNvSpPr txBox="1"/>
          <p:nvPr/>
        </p:nvSpPr>
        <p:spPr>
          <a:xfrm>
            <a:off x="64084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Virtual Machine status, System Logs, RAM Usage.</a:t>
            </a:r>
            <a:endParaRPr dirty="0"/>
          </a:p>
        </p:txBody>
      </p:sp>
      <p:sp>
        <p:nvSpPr>
          <p:cNvPr id="243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4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Execution Poi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Execution Point</a:t>
            </a:r>
          </a:p>
        </p:txBody>
      </p:sp>
      <p:sp>
        <p:nvSpPr>
          <p:cNvPr id="246" name="API endpoint, serverless function, container, notebook, or scheduled job.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Python script runs on a cloud server or virtual machine.</a:t>
            </a:r>
            <a:endParaRPr dirty="0"/>
          </a:p>
        </p:txBody>
      </p:sp>
      <p:sp>
        <p:nvSpPr>
          <p:cNvPr id="247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8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9" name="Product Value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Value</a:t>
            </a:r>
          </a:p>
        </p:txBody>
      </p:sp>
      <p:sp>
        <p:nvSpPr>
          <p:cNvPr id="250" name="How does this module improve user experience or decision-making?"/>
          <p:cNvSpPr txBox="1"/>
          <p:nvPr/>
        </p:nvSpPr>
        <p:spPr>
          <a:xfrm>
            <a:off x="64084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Helps administrators make better resource allocation decisions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7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58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60" name="CO1 AT3 | 08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08</a:t>
            </a:r>
          </a:p>
        </p:txBody>
      </p:sp>
      <p:sp>
        <p:nvSpPr>
          <p:cNvPr id="261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Security, Scalability, Privacy and Cost Design</a:t>
            </a:r>
          </a:p>
        </p:txBody>
      </p:sp>
      <p:sp>
        <p:nvSpPr>
          <p:cNvPr id="262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Security, scale, privacy and cost shape the final design</a:t>
            </a:r>
          </a:p>
        </p:txBody>
      </p:sp>
      <p:sp>
        <p:nvSpPr>
          <p:cNvPr id="263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4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6" name="Security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267" name="Authentication, roles, validation, audit trail.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IAM Authentication</a:t>
            </a:r>
            <a:endParaRPr dirty="0"/>
          </a:p>
        </p:txBody>
      </p:sp>
      <p:sp>
        <p:nvSpPr>
          <p:cNvPr id="268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0" name="Privacy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Privacy</a:t>
            </a:r>
          </a:p>
        </p:txBody>
      </p:sp>
      <p:sp>
        <p:nvSpPr>
          <p:cNvPr id="271" name="Sensitive data, consent, anonymization, access limits."/>
          <p:cNvSpPr txBox="1"/>
          <p:nvPr/>
        </p:nvSpPr>
        <p:spPr>
          <a:xfrm>
            <a:off x="64084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endParaRPr dirty="0"/>
          </a:p>
        </p:txBody>
      </p:sp>
      <p:sp>
        <p:nvSpPr>
          <p:cNvPr id="272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3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Scalability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Scalability</a:t>
            </a:r>
          </a:p>
        </p:txBody>
      </p:sp>
      <p:sp>
        <p:nvSpPr>
          <p:cNvPr id="275" name="How will users grow without redesign?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Auto Scaling</a:t>
            </a:r>
            <a:endParaRPr dirty="0"/>
          </a:p>
        </p:txBody>
      </p:sp>
      <p:sp>
        <p:nvSpPr>
          <p:cNvPr id="276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7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Cost Awareness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Cost Awareness</a:t>
            </a:r>
          </a:p>
        </p:txBody>
      </p:sp>
      <p:sp>
        <p:nvSpPr>
          <p:cNvPr id="279" name="Free tier, managed services, storage/API usage limits."/>
          <p:cNvSpPr txBox="1"/>
          <p:nvPr/>
        </p:nvSpPr>
        <p:spPr>
          <a:xfrm>
            <a:off x="64084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Resource Optimization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477CD-219C-89E9-592C-EB1791EE2B03}"/>
              </a:ext>
            </a:extLst>
          </p:cNvPr>
          <p:cNvSpPr txBox="1"/>
          <p:nvPr/>
        </p:nvSpPr>
        <p:spPr>
          <a:xfrm>
            <a:off x="6358165" y="2091294"/>
            <a:ext cx="609985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Data Encryption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8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89" name="CO1 AT3 | 09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09</a:t>
            </a:r>
          </a:p>
        </p:txBody>
      </p:sp>
      <p:sp>
        <p:nvSpPr>
          <p:cNvPr id="29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Implementation Stack and Deployment Evidence</a:t>
            </a:r>
          </a:p>
        </p:txBody>
      </p:sp>
      <p:sp>
        <p:nvSpPr>
          <p:cNvPr id="29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implementation stack shows how the design will be built</a:t>
            </a:r>
          </a:p>
        </p:txBody>
      </p:sp>
      <p:sp>
        <p:nvSpPr>
          <p:cNvPr id="29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93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5" name="Mobile / Web Layer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Mobile / Web Layer</a:t>
            </a:r>
          </a:p>
        </p:txBody>
      </p:sp>
      <p:sp>
        <p:nvSpPr>
          <p:cNvPr id="296" name="Android, iOS, Flutter, React, or web frontend."/>
          <p:cNvSpPr txBox="1"/>
          <p:nvPr/>
        </p:nvSpPr>
        <p:spPr>
          <a:xfrm>
            <a:off x="9982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Web Browser </a:t>
            </a:r>
          </a:p>
          <a:p>
            <a:endParaRPr dirty="0"/>
          </a:p>
        </p:txBody>
      </p:sp>
      <p:sp>
        <p:nvSpPr>
          <p:cNvPr id="297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8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9" name="Cloud Service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Services</a:t>
            </a:r>
          </a:p>
        </p:txBody>
      </p:sp>
      <p:sp>
        <p:nvSpPr>
          <p:cNvPr id="300" name="Compute, database, storage, authentication, analytics, API tools."/>
          <p:cNvSpPr txBox="1"/>
          <p:nvPr/>
        </p:nvSpPr>
        <p:spPr>
          <a:xfrm>
            <a:off x="64084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AWS EC2, VMware </a:t>
            </a:r>
            <a:r>
              <a:rPr lang="en-IN" dirty="0" err="1"/>
              <a:t>ESXi</a:t>
            </a:r>
            <a:r>
              <a:rPr lang="en-IN" dirty="0"/>
              <a:t>, VirtualBox</a:t>
            </a:r>
            <a:r>
              <a:rPr dirty="0"/>
              <a:t>.</a:t>
            </a:r>
          </a:p>
        </p:txBody>
      </p:sp>
      <p:sp>
        <p:nvSpPr>
          <p:cNvPr id="301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3" name="Evidence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Evidence</a:t>
            </a:r>
          </a:p>
        </p:txBody>
      </p:sp>
      <p:sp>
        <p:nvSpPr>
          <p:cNvPr id="304" name="GitHub, API test, cloud dashboard, endpoint, logs, or deployment URL.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VM Dashboard, Performance Logs</a:t>
            </a:r>
            <a:endParaRPr dirty="0"/>
          </a:p>
        </p:txBody>
      </p:sp>
      <p:sp>
        <p:nvSpPr>
          <p:cNvPr id="305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6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7" name="Version Control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Version Control</a:t>
            </a:r>
          </a:p>
        </p:txBody>
      </p:sp>
      <p:sp>
        <p:nvSpPr>
          <p:cNvPr id="308" name="Repository structure, commits, branches, and README clarity."/>
          <p:cNvSpPr txBox="1"/>
          <p:nvPr/>
        </p:nvSpPr>
        <p:spPr>
          <a:xfrm>
            <a:off x="64084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GitHub Repository 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5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16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18" name="CO1 AT3 | 10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10</a:t>
            </a:r>
          </a:p>
        </p:txBody>
      </p:sp>
      <p:sp>
        <p:nvSpPr>
          <p:cNvPr id="319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Demo Storyboard and User Journey</a:t>
            </a:r>
          </a:p>
        </p:txBody>
      </p:sp>
      <p:sp>
        <p:nvSpPr>
          <p:cNvPr id="320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A complete user journey proves the product flow</a:t>
            </a:r>
          </a:p>
        </p:txBody>
      </p:sp>
      <p:sp>
        <p:nvSpPr>
          <p:cNvPr id="321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22" name="scene-0"/>
          <p:cNvSpPr/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3" name="Scene 1"/>
          <p:cNvSpPr txBox="1"/>
          <p:nvPr/>
        </p:nvSpPr>
        <p:spPr>
          <a:xfrm>
            <a:off x="9410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1</a:t>
            </a:r>
          </a:p>
        </p:txBody>
      </p:sp>
      <p:sp>
        <p:nvSpPr>
          <p:cNvPr id="324" name="User action -&gt; system response -&gt; cloud component touched"/>
          <p:cNvSpPr txBox="1"/>
          <p:nvPr/>
        </p:nvSpPr>
        <p:spPr>
          <a:xfrm>
            <a:off x="941069" y="209550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User Accesses Cloud Portal</a:t>
            </a:r>
            <a:endParaRPr dirty="0"/>
          </a:p>
        </p:txBody>
      </p:sp>
      <p:sp>
        <p:nvSpPr>
          <p:cNvPr id="325" name="scene-1"/>
          <p:cNvSpPr/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6" name="Scene 2"/>
          <p:cNvSpPr txBox="1"/>
          <p:nvPr/>
        </p:nvSpPr>
        <p:spPr>
          <a:xfrm>
            <a:off x="457961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2</a:t>
            </a:r>
          </a:p>
        </p:txBody>
      </p:sp>
      <p:sp>
        <p:nvSpPr>
          <p:cNvPr id="327" name="User action -&gt; system response -&gt; cloud component touched"/>
          <p:cNvSpPr txBox="1"/>
          <p:nvPr/>
        </p:nvSpPr>
        <p:spPr>
          <a:xfrm>
            <a:off x="4579619" y="209550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Virtual Machine Created</a:t>
            </a:r>
            <a:endParaRPr dirty="0"/>
          </a:p>
        </p:txBody>
      </p:sp>
      <p:sp>
        <p:nvSpPr>
          <p:cNvPr id="328" name="scene-2"/>
          <p:cNvSpPr/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9" name="Scene 3"/>
          <p:cNvSpPr txBox="1"/>
          <p:nvPr/>
        </p:nvSpPr>
        <p:spPr>
          <a:xfrm>
            <a:off x="82181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3</a:t>
            </a:r>
          </a:p>
        </p:txBody>
      </p:sp>
      <p:sp>
        <p:nvSpPr>
          <p:cNvPr id="330" name="User action -&gt; system response -&gt; cloud component touched"/>
          <p:cNvSpPr txBox="1"/>
          <p:nvPr/>
        </p:nvSpPr>
        <p:spPr>
          <a:xfrm>
            <a:off x="8218169" y="209550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Application Deployed</a:t>
            </a:r>
            <a:endParaRPr dirty="0"/>
          </a:p>
        </p:txBody>
      </p:sp>
      <p:sp>
        <p:nvSpPr>
          <p:cNvPr id="331" name="scene-3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2" name="Scene 4"/>
          <p:cNvSpPr txBox="1"/>
          <p:nvPr/>
        </p:nvSpPr>
        <p:spPr>
          <a:xfrm>
            <a:off x="9410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4</a:t>
            </a:r>
          </a:p>
        </p:txBody>
      </p:sp>
      <p:sp>
        <p:nvSpPr>
          <p:cNvPr id="333" name="User action -&gt; system response -&gt; cloud component touched"/>
          <p:cNvSpPr txBox="1"/>
          <p:nvPr/>
        </p:nvSpPr>
        <p:spPr>
          <a:xfrm>
            <a:off x="941069" y="382905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Resources Monitored</a:t>
            </a:r>
            <a:endParaRPr dirty="0"/>
          </a:p>
        </p:txBody>
      </p:sp>
      <p:sp>
        <p:nvSpPr>
          <p:cNvPr id="334" name="scene-4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5" name="Scene 5"/>
          <p:cNvSpPr txBox="1"/>
          <p:nvPr/>
        </p:nvSpPr>
        <p:spPr>
          <a:xfrm>
            <a:off x="457961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5</a:t>
            </a:r>
          </a:p>
        </p:txBody>
      </p:sp>
      <p:sp>
        <p:nvSpPr>
          <p:cNvPr id="336" name="User action -&gt; system response -&gt; cloud component touched"/>
          <p:cNvSpPr txBox="1"/>
          <p:nvPr/>
        </p:nvSpPr>
        <p:spPr>
          <a:xfrm>
            <a:off x="4579619" y="382905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Performance </a:t>
            </a:r>
            <a:r>
              <a:rPr lang="en-IN" dirty="0" err="1"/>
              <a:t>Analyzed</a:t>
            </a:r>
            <a:endParaRPr dirty="0"/>
          </a:p>
        </p:txBody>
      </p:sp>
      <p:sp>
        <p:nvSpPr>
          <p:cNvPr id="337" name="scene-5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8" name="Scene 6"/>
          <p:cNvSpPr txBox="1"/>
          <p:nvPr/>
        </p:nvSpPr>
        <p:spPr>
          <a:xfrm>
            <a:off x="82181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6</a:t>
            </a:r>
          </a:p>
        </p:txBody>
      </p:sp>
      <p:sp>
        <p:nvSpPr>
          <p:cNvPr id="339" name="User action -&gt; system response -&gt; cloud component touched"/>
          <p:cNvSpPr txBox="1"/>
          <p:nvPr/>
        </p:nvSpPr>
        <p:spPr>
          <a:xfrm>
            <a:off x="8218169" y="3829050"/>
            <a:ext cx="2613662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Dashboard Updated</a:t>
            </a: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4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49" name="CO1 AT3 | 1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11</a:t>
            </a:r>
          </a:p>
        </p:txBody>
      </p:sp>
      <p:sp>
        <p:nvSpPr>
          <p:cNvPr id="35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Evaluation Readiness Checklist</a:t>
            </a:r>
          </a:p>
        </p:txBody>
      </p:sp>
      <p:sp>
        <p:nvSpPr>
          <p:cNvPr id="35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evidence confirms that the presentation is ready</a:t>
            </a:r>
          </a:p>
        </p:txBody>
      </p:sp>
      <p:sp>
        <p:nvSpPr>
          <p:cNvPr id="35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53" name="check-0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4" name="box-0"/>
          <p:cNvSpPr/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55" name="Cloud ecosystem and service model explained"/>
          <p:cNvSpPr txBox="1"/>
          <p:nvPr/>
        </p:nvSpPr>
        <p:spPr>
          <a:xfrm>
            <a:off x="162686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Cloud ecosystem and service model explained</a:t>
            </a:r>
          </a:p>
        </p:txBody>
      </p:sp>
      <p:sp>
        <p:nvSpPr>
          <p:cNvPr id="356" name="check-1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7" name="box-1"/>
          <p:cNvSpPr/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58" name="REST/SOAP/API role connected to capstone"/>
          <p:cNvSpPr txBox="1"/>
          <p:nvPr/>
        </p:nvSpPr>
        <p:spPr>
          <a:xfrm>
            <a:off x="162686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REST/SOAP/API role connected to capstone</a:t>
            </a:r>
          </a:p>
        </p:txBody>
      </p:sp>
      <p:sp>
        <p:nvSpPr>
          <p:cNvPr id="359" name="check-2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0" name="box-2"/>
          <p:cNvSpPr/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61" name="Architecture has compute, data, storage, security, monitoring"/>
          <p:cNvSpPr txBox="1"/>
          <p:nvPr/>
        </p:nvSpPr>
        <p:spPr>
          <a:xfrm>
            <a:off x="1626869" y="3924300"/>
            <a:ext cx="37185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Architecture has compute, data, storage, security, monitoring</a:t>
            </a:r>
          </a:p>
        </p:txBody>
      </p:sp>
      <p:sp>
        <p:nvSpPr>
          <p:cNvPr id="362" name="check-3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3" name="box-3"/>
          <p:cNvSpPr/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64" name="Elasticity and scalability decisions are visible"/>
          <p:cNvSpPr txBox="1"/>
          <p:nvPr/>
        </p:nvSpPr>
        <p:spPr>
          <a:xfrm>
            <a:off x="724661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Elasticity and scalability decisions are visible</a:t>
            </a:r>
          </a:p>
        </p:txBody>
      </p:sp>
      <p:sp>
        <p:nvSpPr>
          <p:cNvPr id="365" name="check-4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6" name="box-4"/>
          <p:cNvSpPr/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67" name="GitHub and cloud evidence are inspectable"/>
          <p:cNvSpPr txBox="1"/>
          <p:nvPr/>
        </p:nvSpPr>
        <p:spPr>
          <a:xfrm>
            <a:off x="724661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GitHub and cloud evidence are inspectable</a:t>
            </a:r>
          </a:p>
        </p:txBody>
      </p:sp>
      <p:sp>
        <p:nvSpPr>
          <p:cNvPr id="368" name="check-5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9" name="box-5"/>
          <p:cNvSpPr/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70" name="References and integrity statement are included"/>
          <p:cNvSpPr txBox="1"/>
          <p:nvPr/>
        </p:nvSpPr>
        <p:spPr>
          <a:xfrm>
            <a:off x="7246619" y="39243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References and integrity statement are included</a:t>
            </a:r>
          </a:p>
        </p:txBody>
      </p:sp>
      <p:sp>
        <p:nvSpPr>
          <p:cNvPr id="371" name="Evaluator Focus-panel"/>
          <p:cNvSpPr/>
          <p:nvPr/>
        </p:nvSpPr>
        <p:spPr>
          <a:xfrm>
            <a:off x="1938130" y="4952999"/>
            <a:ext cx="8158370" cy="1063943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72" name="Evaluator Focus-bar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Evaluator Focus"/>
          <p:cNvSpPr txBox="1"/>
          <p:nvPr/>
        </p:nvSpPr>
        <p:spPr>
          <a:xfrm>
            <a:off x="2312669" y="5143500"/>
            <a:ext cx="75666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Evaluator Focus</a:t>
            </a:r>
          </a:p>
        </p:txBody>
      </p:sp>
      <p:sp>
        <p:nvSpPr>
          <p:cNvPr id="374" name="CO1 is verified through cloud design reasoning, service choices, evidence, and individual explanation."/>
          <p:cNvSpPr txBox="1"/>
          <p:nvPr/>
        </p:nvSpPr>
        <p:spPr>
          <a:xfrm>
            <a:off x="2312669" y="5524500"/>
            <a:ext cx="756666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Virtualization concepts are verified through cloud architecture, service models (IaaS/PaaS/SaaS), hypervisor design, scalability, security, monitoring, and individual explanation.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8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84" name="CO1 AT3 | 1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12</a:t>
            </a:r>
          </a:p>
        </p:txBody>
      </p:sp>
      <p:sp>
        <p:nvSpPr>
          <p:cNvPr id="385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Conclusion, Limitations and Future Scope</a:t>
            </a:r>
          </a:p>
        </p:txBody>
      </p:sp>
      <p:sp>
        <p:nvSpPr>
          <p:cNvPr id="386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We close with learning, limitations and next steps</a:t>
            </a:r>
          </a:p>
        </p:txBody>
      </p:sp>
      <p:sp>
        <p:nvSpPr>
          <p:cNvPr id="387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88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89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0" name="Learning Outcom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Learning Outcome</a:t>
            </a:r>
          </a:p>
        </p:txBody>
      </p:sp>
      <p:sp>
        <p:nvSpPr>
          <p:cNvPr id="391" name="What cloud concepts did the project make clear?"/>
          <p:cNvSpPr txBox="1"/>
          <p:nvPr/>
        </p:nvSpPr>
        <p:spPr>
          <a:xfrm>
            <a:off x="9982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Learned virtualization, hypervisors, cloud service models, and resource management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92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3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Limitation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Limitations</a:t>
            </a:r>
          </a:p>
        </p:txBody>
      </p:sp>
      <p:sp>
        <p:nvSpPr>
          <p:cNvPr id="395" name="What remains incomplete or needs improvement?"/>
          <p:cNvSpPr txBox="1"/>
          <p:nvPr/>
        </p:nvSpPr>
        <p:spPr>
          <a:xfrm>
            <a:off x="64084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Performance overhead and hardware dependency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96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7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8" name="Future Improveme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Future Improvement</a:t>
            </a:r>
          </a:p>
        </p:txBody>
      </p:sp>
      <p:sp>
        <p:nvSpPr>
          <p:cNvPr id="399" name="What will be improved before final capstone review?"/>
          <p:cNvSpPr txBox="1"/>
          <p:nvPr/>
        </p:nvSpPr>
        <p:spPr>
          <a:xfrm>
            <a:off x="9982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AI-based resource allocation and container virtualization</a:t>
            </a:r>
            <a:r>
              <a:rPr lang="en-IN" dirty="0"/>
              <a:t>. </a:t>
            </a:r>
          </a:p>
          <a:p>
            <a:endParaRPr dirty="0"/>
          </a:p>
        </p:txBody>
      </p:sp>
      <p:sp>
        <p:nvSpPr>
          <p:cNvPr id="400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Integrity Statement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Integrity Statement</a:t>
            </a:r>
          </a:p>
        </p:txBody>
      </p:sp>
      <p:sp>
        <p:nvSpPr>
          <p:cNvPr id="403" name="Mention sources, tools, datasets, and any AI assistance acknowledged."/>
          <p:cNvSpPr txBox="1"/>
          <p:nvPr/>
        </p:nvSpPr>
        <p:spPr>
          <a:xfrm>
            <a:off x="6408419" y="3829050"/>
            <a:ext cx="409956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US" dirty="0"/>
              <a:t>Built using VMware, VirtualBox, AWS EC2, Python, GitHub, and official cloud documentation.</a:t>
            </a:r>
          </a:p>
          <a:p>
            <a:endParaRPr lang="en-US"/>
          </a:p>
          <a:p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1250</Words>
  <Application>Microsoft Office PowerPoint</Application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</dc:creator>
  <cp:lastModifiedBy>Sri Lakshmi</cp:lastModifiedBy>
  <cp:revision>5</cp:revision>
  <dcterms:modified xsi:type="dcterms:W3CDTF">2026-07-21T06:14:45Z</dcterms:modified>
</cp:coreProperties>
</file>